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grandir" panose="020B0604020202020204" charset="0"/>
      <p:regular r:id="rId10"/>
    </p:embeddedFont>
    <p:embeddedFont>
      <p:font typeface="Agrandir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90349" y="1703078"/>
            <a:ext cx="6398073" cy="6886758"/>
            <a:chOff x="0" y="0"/>
            <a:chExt cx="991229" cy="10669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1229" cy="1066939"/>
            </a:xfrm>
            <a:custGeom>
              <a:avLst/>
              <a:gdLst/>
              <a:ahLst/>
              <a:cxnLst/>
              <a:rect l="l" t="t" r="r" b="b"/>
              <a:pathLst>
                <a:path w="991229" h="1066939">
                  <a:moveTo>
                    <a:pt x="121004" y="0"/>
                  </a:moveTo>
                  <a:lnTo>
                    <a:pt x="870225" y="0"/>
                  </a:lnTo>
                  <a:cubicBezTo>
                    <a:pt x="937054" y="0"/>
                    <a:pt x="991229" y="54175"/>
                    <a:pt x="991229" y="121004"/>
                  </a:cubicBezTo>
                  <a:lnTo>
                    <a:pt x="991229" y="945935"/>
                  </a:lnTo>
                  <a:cubicBezTo>
                    <a:pt x="991229" y="1012764"/>
                    <a:pt x="937054" y="1066939"/>
                    <a:pt x="870225" y="1066939"/>
                  </a:cubicBezTo>
                  <a:lnTo>
                    <a:pt x="121004" y="1066939"/>
                  </a:lnTo>
                  <a:cubicBezTo>
                    <a:pt x="54175" y="1066939"/>
                    <a:pt x="0" y="1012764"/>
                    <a:pt x="0" y="945935"/>
                  </a:cubicBezTo>
                  <a:lnTo>
                    <a:pt x="0" y="121004"/>
                  </a:lnTo>
                  <a:cubicBezTo>
                    <a:pt x="0" y="54175"/>
                    <a:pt x="54175" y="0"/>
                    <a:pt x="121004" y="0"/>
                  </a:cubicBezTo>
                  <a:close/>
                </a:path>
              </a:pathLst>
            </a:custGeom>
            <a:blipFill>
              <a:blip r:embed="rId2"/>
              <a:stretch>
                <a:fillRect l="-6430" r="-6430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516914" y="9166551"/>
            <a:ext cx="1558087" cy="457083"/>
          </a:xfrm>
          <a:custGeom>
            <a:avLst/>
            <a:gdLst/>
            <a:ahLst/>
            <a:cxnLst/>
            <a:rect l="l" t="t" r="r" b="b"/>
            <a:pathLst>
              <a:path w="1558087" h="457083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4729465" y="-2057400"/>
            <a:ext cx="2385311" cy="4114800"/>
          </a:xfrm>
          <a:custGeom>
            <a:avLst/>
            <a:gdLst/>
            <a:ahLst/>
            <a:cxnLst/>
            <a:rect l="l" t="t" r="r" b="b"/>
            <a:pathLst>
              <a:path w="2385311" h="4114800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75857" y="1525793"/>
            <a:ext cx="9298670" cy="3940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6085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MULTI-TEMPORAL WATER  BODY  ANALYSIS  OF  HYDERABAD’S  URBAN  LAKES USING  DEEP  LEARNING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228" y="6004065"/>
            <a:ext cx="7484773" cy="176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1F1F25"/>
                </a:solidFill>
                <a:latin typeface="Agrandir Bold"/>
                <a:ea typeface="Agrandir Bold"/>
                <a:cs typeface="Agrandir Bold"/>
                <a:sym typeface="Agrandir Bold"/>
              </a:rPr>
              <a:t>Submitted By -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K Ritanshu Kumar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22MID0328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228" y="8072755"/>
            <a:ext cx="4888945" cy="118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1F1F25"/>
                </a:solidFill>
                <a:latin typeface="Agrandir Bold"/>
                <a:ea typeface="Agrandir Bold"/>
                <a:cs typeface="Agrandir Bold"/>
                <a:sym typeface="Agrandir Bold"/>
              </a:rPr>
              <a:t>Under the Guidance of</a:t>
            </a:r>
            <a:r>
              <a:rPr lang="en-US" sz="32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 -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DR. Rohini 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10200" y="8972607"/>
            <a:ext cx="6829811" cy="844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9" dirty="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Department of Computer Science and Engineering</a:t>
            </a:r>
          </a:p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9" dirty="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Vellore Institute of Technology,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4527" y="546735"/>
            <a:ext cx="7484773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2026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14204320" y="4386871"/>
            <a:ext cx="2671510" cy="2656938"/>
          </a:xfrm>
          <a:custGeom>
            <a:avLst/>
            <a:gdLst/>
            <a:ahLst/>
            <a:cxnLst/>
            <a:rect l="l" t="t" r="r" b="b"/>
            <a:pathLst>
              <a:path w="2671510" h="2656938">
                <a:moveTo>
                  <a:pt x="0" y="0"/>
                </a:moveTo>
                <a:lnTo>
                  <a:pt x="2671510" y="0"/>
                </a:lnTo>
                <a:lnTo>
                  <a:pt x="2671510" y="2656938"/>
                </a:lnTo>
                <a:lnTo>
                  <a:pt x="0" y="2656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1682476" y="-2592747"/>
            <a:ext cx="3005982" cy="5185494"/>
          </a:xfrm>
          <a:custGeom>
            <a:avLst/>
            <a:gdLst/>
            <a:ahLst/>
            <a:cxnLst/>
            <a:rect l="l" t="t" r="r" b="b"/>
            <a:pathLst>
              <a:path w="3005982" h="5185494">
                <a:moveTo>
                  <a:pt x="0" y="0"/>
                </a:moveTo>
                <a:lnTo>
                  <a:pt x="3005982" y="0"/>
                </a:lnTo>
                <a:lnTo>
                  <a:pt x="3005982" y="5185494"/>
                </a:lnTo>
                <a:lnTo>
                  <a:pt x="0" y="5185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9166551"/>
            <a:ext cx="1558087" cy="457083"/>
          </a:xfrm>
          <a:custGeom>
            <a:avLst/>
            <a:gdLst/>
            <a:ahLst/>
            <a:cxnLst/>
            <a:rect l="l" t="t" r="r" b="b"/>
            <a:pathLst>
              <a:path w="1558087" h="457083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07744" y="1417266"/>
            <a:ext cx="6316722" cy="192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751"/>
              </a:lnSpc>
            </a:pPr>
            <a:r>
              <a:rPr lang="en-US" sz="12114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OUTLINE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3180" y="3697443"/>
            <a:ext cx="15241640" cy="592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1344" lvl="1" indent="-450672" algn="just">
              <a:lnSpc>
                <a:spcPts val="5844"/>
              </a:lnSpc>
              <a:buFont typeface="Arial"/>
              <a:buChar char="•"/>
            </a:pPr>
            <a:r>
              <a:rPr lang="en-US" sz="4174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Area of the Project</a:t>
            </a:r>
          </a:p>
          <a:p>
            <a:pPr marL="901344" lvl="1" indent="-450672" algn="just">
              <a:lnSpc>
                <a:spcPts val="5844"/>
              </a:lnSpc>
              <a:buFont typeface="Arial"/>
              <a:buChar char="•"/>
            </a:pPr>
            <a:r>
              <a:rPr lang="en-US" sz="4174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Background of the Problem</a:t>
            </a:r>
          </a:p>
          <a:p>
            <a:pPr marL="901344" lvl="1" indent="-450672" algn="just">
              <a:lnSpc>
                <a:spcPts val="5844"/>
              </a:lnSpc>
              <a:buFont typeface="Arial"/>
              <a:buChar char="•"/>
            </a:pPr>
            <a:r>
              <a:rPr lang="en-US" sz="4174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Problem Statement</a:t>
            </a:r>
          </a:p>
          <a:p>
            <a:pPr marL="1802688" lvl="2" indent="-600896" algn="just">
              <a:lnSpc>
                <a:spcPts val="5844"/>
              </a:lnSpc>
              <a:buFont typeface="Arial"/>
              <a:buChar char="⚬"/>
            </a:pPr>
            <a:r>
              <a:rPr lang="en-US" sz="4174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Proposed Work</a:t>
            </a:r>
          </a:p>
          <a:p>
            <a:pPr marL="1802688" lvl="2" indent="-600896" algn="just">
              <a:lnSpc>
                <a:spcPts val="5844"/>
              </a:lnSpc>
              <a:buFont typeface="Arial"/>
              <a:buChar char="⚬"/>
            </a:pPr>
            <a:r>
              <a:rPr lang="en-US" sz="4174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Novelty</a:t>
            </a:r>
          </a:p>
          <a:p>
            <a:pPr marL="901344" lvl="1" indent="-450672" algn="just">
              <a:lnSpc>
                <a:spcPts val="5844"/>
              </a:lnSpc>
              <a:buFont typeface="Arial"/>
              <a:buChar char="•"/>
            </a:pPr>
            <a:r>
              <a:rPr lang="en-US" sz="4174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Conclusion</a:t>
            </a:r>
          </a:p>
          <a:p>
            <a:pPr marL="901344" lvl="1" indent="-450672" algn="just">
              <a:lnSpc>
                <a:spcPts val="5844"/>
              </a:lnSpc>
              <a:buFont typeface="Arial"/>
              <a:buChar char="•"/>
            </a:pPr>
            <a:r>
              <a:rPr lang="en-US" sz="4174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Thank You</a:t>
            </a:r>
          </a:p>
          <a:p>
            <a:pPr algn="just">
              <a:lnSpc>
                <a:spcPts val="5844"/>
              </a:lnSpc>
            </a:pPr>
            <a:endParaRPr lang="en-US" sz="4174">
              <a:solidFill>
                <a:srgbClr val="1F1F25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729094" y="8778665"/>
            <a:ext cx="6829811" cy="844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Department of Computer Science and Engineering</a:t>
            </a:r>
          </a:p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Vellore Institute of Technology, Vellore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416948" y="1031578"/>
            <a:ext cx="1055299" cy="1049543"/>
          </a:xfrm>
          <a:custGeom>
            <a:avLst/>
            <a:gdLst/>
            <a:ahLst/>
            <a:cxnLst/>
            <a:rect l="l" t="t" r="r" b="b"/>
            <a:pathLst>
              <a:path w="1055299" h="1049543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253945" y="7694934"/>
            <a:ext cx="2817031" cy="4859542"/>
          </a:xfrm>
          <a:custGeom>
            <a:avLst/>
            <a:gdLst/>
            <a:ahLst/>
            <a:cxnLst/>
            <a:rect l="l" t="t" r="r" b="b"/>
            <a:pathLst>
              <a:path w="2817031" h="4859542">
                <a:moveTo>
                  <a:pt x="0" y="0"/>
                </a:moveTo>
                <a:lnTo>
                  <a:pt x="2817032" y="0"/>
                </a:lnTo>
                <a:lnTo>
                  <a:pt x="2817032" y="4859542"/>
                </a:lnTo>
                <a:lnTo>
                  <a:pt x="0" y="4859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93786" y="2543800"/>
            <a:ext cx="6358358" cy="5712588"/>
          </a:xfrm>
          <a:custGeom>
            <a:avLst/>
            <a:gdLst/>
            <a:ahLst/>
            <a:cxnLst/>
            <a:rect l="l" t="t" r="r" b="b"/>
            <a:pathLst>
              <a:path w="6358358" h="5712588">
                <a:moveTo>
                  <a:pt x="0" y="0"/>
                </a:moveTo>
                <a:lnTo>
                  <a:pt x="6358358" y="0"/>
                </a:lnTo>
                <a:lnTo>
                  <a:pt x="6358358" y="5712588"/>
                </a:lnTo>
                <a:lnTo>
                  <a:pt x="0" y="5712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69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81075"/>
            <a:ext cx="12480056" cy="132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50"/>
              </a:lnSpc>
            </a:pPr>
            <a:r>
              <a:rPr lang="en-US" sz="8402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AREA OF THE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357645"/>
            <a:ext cx="8899135" cy="378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5000"/>
              </a:lnSpc>
              <a:buFont typeface="Arial"/>
              <a:buChar char="•"/>
            </a:pPr>
            <a:r>
              <a:rPr lang="en-US" sz="25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This project is an interdisciplinary application of Artificial Intelligence and Remote Sensing for environmental monitoring. </a:t>
            </a:r>
          </a:p>
          <a:p>
            <a:pPr marL="539751" lvl="1" indent="-269876" algn="l">
              <a:lnSpc>
                <a:spcPts val="5000"/>
              </a:lnSpc>
              <a:buFont typeface="Arial"/>
              <a:buChar char="•"/>
            </a:pPr>
            <a:r>
              <a:rPr lang="en-US" sz="25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It focuses on analyzing temporal changes in the surface area of Hyderabad's urban lakes using satellite imagery and deep learning techniques.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310670"/>
            <a:ext cx="6203990" cy="315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5000"/>
              </a:lnSpc>
              <a:buFont typeface="Arial"/>
              <a:buChar char="•"/>
            </a:pPr>
            <a:r>
              <a:rPr lang="en-US" sz="25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Remote Sensing &amp; Geospatial Analysis</a:t>
            </a:r>
          </a:p>
          <a:p>
            <a:pPr marL="539751" lvl="1" indent="-269876" algn="l">
              <a:lnSpc>
                <a:spcPts val="5000"/>
              </a:lnSpc>
              <a:buFont typeface="Arial"/>
              <a:buChar char="•"/>
            </a:pPr>
            <a:r>
              <a:rPr lang="en-US" sz="25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Artificial Intelligence &amp; Deep Learning</a:t>
            </a:r>
          </a:p>
          <a:p>
            <a:pPr marL="539751" lvl="1" indent="-269876" algn="l">
              <a:lnSpc>
                <a:spcPts val="5000"/>
              </a:lnSpc>
              <a:buFont typeface="Arial"/>
              <a:buChar char="•"/>
            </a:pPr>
            <a:r>
              <a:rPr lang="en-US" sz="25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Computer Vision</a:t>
            </a:r>
          </a:p>
          <a:p>
            <a:pPr marL="539751" lvl="1" indent="-269876" algn="l">
              <a:lnSpc>
                <a:spcPts val="5000"/>
              </a:lnSpc>
              <a:buFont typeface="Arial"/>
              <a:buChar char="•"/>
            </a:pPr>
            <a:r>
              <a:rPr lang="en-US" sz="25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Environmental Monitoring</a:t>
            </a:r>
          </a:p>
          <a:p>
            <a:pPr marL="539751" lvl="1" indent="-269876" algn="l">
              <a:lnSpc>
                <a:spcPts val="5000"/>
              </a:lnSpc>
              <a:buFont typeface="Arial"/>
              <a:buChar char="•"/>
            </a:pPr>
            <a:r>
              <a:rPr lang="en-US" sz="25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Urban Water Resource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7057" y="5668189"/>
            <a:ext cx="3277433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Study Lakes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Hussain Sagar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Osman Sagar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Himayat Sagar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1F1F25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217831" y="8399263"/>
            <a:ext cx="6910268" cy="39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 Satellite view of Hyderabad showing selected urban lakes.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7441" y="1412727"/>
            <a:ext cx="11486311" cy="1798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5"/>
              </a:lnSpc>
            </a:pPr>
            <a:r>
              <a:rPr lang="en-US" sz="644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BACKGROUND OF THE PROBLEM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13394184" y="776724"/>
            <a:ext cx="1802256" cy="3108995"/>
          </a:xfrm>
          <a:custGeom>
            <a:avLst/>
            <a:gdLst/>
            <a:ahLst/>
            <a:cxnLst/>
            <a:rect l="l" t="t" r="r" b="b"/>
            <a:pathLst>
              <a:path w="1802256" h="3108995">
                <a:moveTo>
                  <a:pt x="0" y="0"/>
                </a:moveTo>
                <a:lnTo>
                  <a:pt x="1802255" y="0"/>
                </a:lnTo>
                <a:lnTo>
                  <a:pt x="1802255" y="3108995"/>
                </a:lnTo>
                <a:lnTo>
                  <a:pt x="0" y="3108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04708" y="9258300"/>
            <a:ext cx="1558087" cy="457083"/>
          </a:xfrm>
          <a:custGeom>
            <a:avLst/>
            <a:gdLst/>
            <a:ahLst/>
            <a:cxnLst/>
            <a:rect l="l" t="t" r="r" b="b"/>
            <a:pathLst>
              <a:path w="1558087" h="457083">
                <a:moveTo>
                  <a:pt x="0" y="0"/>
                </a:moveTo>
                <a:lnTo>
                  <a:pt x="1558087" y="0"/>
                </a:lnTo>
                <a:lnTo>
                  <a:pt x="1558087" y="457083"/>
                </a:lnTo>
                <a:lnTo>
                  <a:pt x="0" y="457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97441" y="3923365"/>
            <a:ext cx="5287088" cy="5334935"/>
          </a:xfrm>
          <a:custGeom>
            <a:avLst/>
            <a:gdLst/>
            <a:ahLst/>
            <a:cxnLst/>
            <a:rect l="l" t="t" r="r" b="b"/>
            <a:pathLst>
              <a:path w="5287088" h="5334935">
                <a:moveTo>
                  <a:pt x="0" y="0"/>
                </a:moveTo>
                <a:lnTo>
                  <a:pt x="5287087" y="0"/>
                </a:lnTo>
                <a:lnTo>
                  <a:pt x="5287087" y="5334935"/>
                </a:lnTo>
                <a:lnTo>
                  <a:pt x="0" y="533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979" t="-7714" r="-44358" b="-995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032547" y="3704290"/>
            <a:ext cx="10794524" cy="6031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4725"/>
              </a:lnSpc>
              <a:buFont typeface="Arial"/>
              <a:buChar char="•"/>
            </a:pPr>
            <a:r>
              <a:rPr lang="en-US" sz="27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Urban lakes support groundwater recharge, flood control, and biodiversity.</a:t>
            </a:r>
          </a:p>
          <a:p>
            <a:pPr marL="582930" lvl="1" indent="-291465" algn="just">
              <a:lnSpc>
                <a:spcPts val="4725"/>
              </a:lnSpc>
              <a:buFont typeface="Arial"/>
              <a:buChar char="•"/>
            </a:pPr>
            <a:r>
              <a:rPr lang="en-US" sz="27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Urbanization, pollution, and encroachment are degrading Hyderabad's lakes.</a:t>
            </a:r>
          </a:p>
          <a:p>
            <a:pPr marL="582930" lvl="1" indent="-291465" algn="just">
              <a:lnSpc>
                <a:spcPts val="4725"/>
              </a:lnSpc>
              <a:buFont typeface="Arial"/>
              <a:buChar char="•"/>
            </a:pPr>
            <a:r>
              <a:rPr lang="en-US" sz="27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Monitoring lake surface area is essential for environmental conservation.</a:t>
            </a:r>
          </a:p>
          <a:p>
            <a:pPr marL="582930" lvl="1" indent="-291465" algn="just">
              <a:lnSpc>
                <a:spcPts val="4725"/>
              </a:lnSpc>
              <a:buFont typeface="Arial"/>
              <a:buChar char="•"/>
            </a:pPr>
            <a:r>
              <a:rPr lang="en-US" sz="27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Traditional monitoring is manual and time-consuming.</a:t>
            </a:r>
          </a:p>
          <a:p>
            <a:pPr marL="582930" lvl="1" indent="-291465" algn="just">
              <a:lnSpc>
                <a:spcPts val="4725"/>
              </a:lnSpc>
              <a:buFont typeface="Arial"/>
              <a:buChar char="•"/>
            </a:pPr>
            <a:r>
              <a:rPr lang="en-US" sz="27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Satellite imagery + Deep Learning enables efficient long-term monitoring.</a:t>
            </a:r>
          </a:p>
          <a:p>
            <a:pPr algn="just">
              <a:lnSpc>
                <a:spcPts val="4725"/>
              </a:lnSpc>
            </a:pPr>
            <a:endParaRPr lang="en-US" sz="2700">
              <a:solidFill>
                <a:srgbClr val="1F1F25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6707" y="9412489"/>
            <a:ext cx="6528554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Aerial view of Hussain Sagar Lake, Hyderabad.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0508701" y="8237044"/>
            <a:ext cx="2817031" cy="4859542"/>
          </a:xfrm>
          <a:custGeom>
            <a:avLst/>
            <a:gdLst/>
            <a:ahLst/>
            <a:cxnLst/>
            <a:rect l="l" t="t" r="r" b="b"/>
            <a:pathLst>
              <a:path w="2817031" h="4859542">
                <a:moveTo>
                  <a:pt x="0" y="0"/>
                </a:moveTo>
                <a:lnTo>
                  <a:pt x="2817031" y="0"/>
                </a:lnTo>
                <a:lnTo>
                  <a:pt x="2817031" y="4859543"/>
                </a:lnTo>
                <a:lnTo>
                  <a:pt x="0" y="485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81480" y="828819"/>
            <a:ext cx="6775269" cy="6535131"/>
          </a:xfrm>
          <a:custGeom>
            <a:avLst/>
            <a:gdLst/>
            <a:ahLst/>
            <a:cxnLst/>
            <a:rect l="l" t="t" r="r" b="b"/>
            <a:pathLst>
              <a:path w="6775269" h="6535131">
                <a:moveTo>
                  <a:pt x="0" y="0"/>
                </a:moveTo>
                <a:lnTo>
                  <a:pt x="6775269" y="0"/>
                </a:lnTo>
                <a:lnTo>
                  <a:pt x="6775269" y="6535131"/>
                </a:lnTo>
                <a:lnTo>
                  <a:pt x="0" y="6535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0" b="-405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771669"/>
            <a:ext cx="9752780" cy="2592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926"/>
              </a:lnSpc>
            </a:pPr>
            <a:r>
              <a:rPr lang="en-US" sz="9202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8311" y="3180079"/>
            <a:ext cx="8899135" cy="6257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8" lvl="1" indent="-334644" algn="just">
              <a:lnSpc>
                <a:spcPts val="6199"/>
              </a:lnSpc>
              <a:buFont typeface="Arial"/>
              <a:buChar char="•"/>
            </a:pPr>
            <a:r>
              <a:rPr lang="en-US" sz="309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Hyderabad's urban lakes are undergoing changes due to urbanization, pollution, and encroachment.</a:t>
            </a:r>
          </a:p>
          <a:p>
            <a:pPr marL="669288" lvl="1" indent="-334644" algn="just">
              <a:lnSpc>
                <a:spcPts val="6199"/>
              </a:lnSpc>
              <a:buFont typeface="Arial"/>
              <a:buChar char="•"/>
            </a:pPr>
            <a:r>
              <a:rPr lang="en-US" sz="309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Existing monitoring methods are manual, time-consuming, and difficult to scale.</a:t>
            </a:r>
          </a:p>
          <a:p>
            <a:pPr marL="669288" lvl="1" indent="-334644" algn="just">
              <a:lnSpc>
                <a:spcPts val="6199"/>
              </a:lnSpc>
              <a:buFont typeface="Arial"/>
              <a:buChar char="•"/>
            </a:pPr>
            <a:r>
              <a:rPr lang="en-US" sz="309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There is a need for an automated and reliable approach to monitor lake surface area over time.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848" y="7802400"/>
            <a:ext cx="7858534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Figure: Multi-temporal satellite images illustrating changes in Hussain Sagar Lake.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54897" y="3360322"/>
            <a:ext cx="5178206" cy="5149961"/>
          </a:xfrm>
          <a:custGeom>
            <a:avLst/>
            <a:gdLst/>
            <a:ahLst/>
            <a:cxnLst/>
            <a:rect l="l" t="t" r="r" b="b"/>
            <a:pathLst>
              <a:path w="5178206" h="5149961">
                <a:moveTo>
                  <a:pt x="0" y="0"/>
                </a:moveTo>
                <a:lnTo>
                  <a:pt x="5178206" y="0"/>
                </a:lnTo>
                <a:lnTo>
                  <a:pt x="5178206" y="5149961"/>
                </a:lnTo>
                <a:lnTo>
                  <a:pt x="0" y="51499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682070" y="8604930"/>
            <a:ext cx="1802256" cy="3108995"/>
          </a:xfrm>
          <a:custGeom>
            <a:avLst/>
            <a:gdLst/>
            <a:ahLst/>
            <a:cxnLst/>
            <a:rect l="l" t="t" r="r" b="b"/>
            <a:pathLst>
              <a:path w="1802256" h="3108995">
                <a:moveTo>
                  <a:pt x="0" y="0"/>
                </a:moveTo>
                <a:lnTo>
                  <a:pt x="1802256" y="0"/>
                </a:lnTo>
                <a:lnTo>
                  <a:pt x="1802256" y="3108996"/>
                </a:lnTo>
                <a:lnTo>
                  <a:pt x="0" y="3108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364956" y="849630"/>
            <a:ext cx="1558087" cy="457083"/>
          </a:xfrm>
          <a:custGeom>
            <a:avLst/>
            <a:gdLst/>
            <a:ahLst/>
            <a:cxnLst/>
            <a:rect l="l" t="t" r="r" b="b"/>
            <a:pathLst>
              <a:path w="1558087" h="457083">
                <a:moveTo>
                  <a:pt x="0" y="0"/>
                </a:moveTo>
                <a:lnTo>
                  <a:pt x="1558088" y="0"/>
                </a:lnTo>
                <a:lnTo>
                  <a:pt x="1558088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3360322"/>
            <a:ext cx="7697339" cy="1116040"/>
            <a:chOff x="0" y="0"/>
            <a:chExt cx="2027283" cy="2939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27283" cy="293937"/>
            </a:xfrm>
            <a:custGeom>
              <a:avLst/>
              <a:gdLst/>
              <a:ahLst/>
              <a:cxnLst/>
              <a:rect l="l" t="t" r="r" b="b"/>
              <a:pathLst>
                <a:path w="2027283" h="293937">
                  <a:moveTo>
                    <a:pt x="100579" y="0"/>
                  </a:moveTo>
                  <a:lnTo>
                    <a:pt x="1926704" y="0"/>
                  </a:lnTo>
                  <a:cubicBezTo>
                    <a:pt x="1953379" y="0"/>
                    <a:pt x="1978961" y="10597"/>
                    <a:pt x="1997824" y="29459"/>
                  </a:cubicBezTo>
                  <a:cubicBezTo>
                    <a:pt x="2016686" y="48321"/>
                    <a:pt x="2027283" y="73904"/>
                    <a:pt x="2027283" y="100579"/>
                  </a:cubicBezTo>
                  <a:lnTo>
                    <a:pt x="2027283" y="193357"/>
                  </a:lnTo>
                  <a:cubicBezTo>
                    <a:pt x="2027283" y="248906"/>
                    <a:pt x="1982252" y="293937"/>
                    <a:pt x="1926704" y="293937"/>
                  </a:cubicBezTo>
                  <a:lnTo>
                    <a:pt x="100579" y="293937"/>
                  </a:lnTo>
                  <a:cubicBezTo>
                    <a:pt x="73904" y="293937"/>
                    <a:pt x="48321" y="283340"/>
                    <a:pt x="29459" y="264478"/>
                  </a:cubicBezTo>
                  <a:cubicBezTo>
                    <a:pt x="10597" y="245615"/>
                    <a:pt x="0" y="220033"/>
                    <a:pt x="0" y="193357"/>
                  </a:cubicBezTo>
                  <a:lnTo>
                    <a:pt x="0" y="100579"/>
                  </a:lnTo>
                  <a:cubicBezTo>
                    <a:pt x="0" y="73904"/>
                    <a:pt x="10597" y="48321"/>
                    <a:pt x="29459" y="29459"/>
                  </a:cubicBezTo>
                  <a:cubicBezTo>
                    <a:pt x="48321" y="10597"/>
                    <a:pt x="73904" y="0"/>
                    <a:pt x="100579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027283" cy="417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Collect Sentinel-2 satellite imagery (2018–2025).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95487" y="1804573"/>
            <a:ext cx="7363765" cy="95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0"/>
              </a:lnSpc>
            </a:pPr>
            <a:r>
              <a:rPr lang="en-US" sz="60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PROPOSED WORK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704962"/>
            <a:ext cx="7697339" cy="1116040"/>
            <a:chOff x="0" y="0"/>
            <a:chExt cx="2027283" cy="2939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7283" cy="293937"/>
            </a:xfrm>
            <a:custGeom>
              <a:avLst/>
              <a:gdLst/>
              <a:ahLst/>
              <a:cxnLst/>
              <a:rect l="l" t="t" r="r" b="b"/>
              <a:pathLst>
                <a:path w="2027283" h="293937">
                  <a:moveTo>
                    <a:pt x="100579" y="0"/>
                  </a:moveTo>
                  <a:lnTo>
                    <a:pt x="1926704" y="0"/>
                  </a:lnTo>
                  <a:cubicBezTo>
                    <a:pt x="1953379" y="0"/>
                    <a:pt x="1978961" y="10597"/>
                    <a:pt x="1997824" y="29459"/>
                  </a:cubicBezTo>
                  <a:cubicBezTo>
                    <a:pt x="2016686" y="48321"/>
                    <a:pt x="2027283" y="73904"/>
                    <a:pt x="2027283" y="100579"/>
                  </a:cubicBezTo>
                  <a:lnTo>
                    <a:pt x="2027283" y="193357"/>
                  </a:lnTo>
                  <a:cubicBezTo>
                    <a:pt x="2027283" y="248906"/>
                    <a:pt x="1982252" y="293937"/>
                    <a:pt x="1926704" y="293937"/>
                  </a:cubicBezTo>
                  <a:lnTo>
                    <a:pt x="100579" y="293937"/>
                  </a:lnTo>
                  <a:cubicBezTo>
                    <a:pt x="73904" y="293937"/>
                    <a:pt x="48321" y="283340"/>
                    <a:pt x="29459" y="264478"/>
                  </a:cubicBezTo>
                  <a:cubicBezTo>
                    <a:pt x="10597" y="245615"/>
                    <a:pt x="0" y="220033"/>
                    <a:pt x="0" y="193357"/>
                  </a:cubicBezTo>
                  <a:lnTo>
                    <a:pt x="0" y="100579"/>
                  </a:lnTo>
                  <a:cubicBezTo>
                    <a:pt x="0" y="73904"/>
                    <a:pt x="10597" y="48321"/>
                    <a:pt x="29459" y="29459"/>
                  </a:cubicBezTo>
                  <a:cubicBezTo>
                    <a:pt x="48321" y="10597"/>
                    <a:pt x="73904" y="0"/>
                    <a:pt x="100579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2027283" cy="417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Preprocess satellite images for analysis.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68244" y="3360322"/>
            <a:ext cx="7697339" cy="1116040"/>
            <a:chOff x="0" y="0"/>
            <a:chExt cx="2027283" cy="2939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7283" cy="293937"/>
            </a:xfrm>
            <a:custGeom>
              <a:avLst/>
              <a:gdLst/>
              <a:ahLst/>
              <a:cxnLst/>
              <a:rect l="l" t="t" r="r" b="b"/>
              <a:pathLst>
                <a:path w="2027283" h="293937">
                  <a:moveTo>
                    <a:pt x="100579" y="0"/>
                  </a:moveTo>
                  <a:lnTo>
                    <a:pt x="1926704" y="0"/>
                  </a:lnTo>
                  <a:cubicBezTo>
                    <a:pt x="1953379" y="0"/>
                    <a:pt x="1978961" y="10597"/>
                    <a:pt x="1997824" y="29459"/>
                  </a:cubicBezTo>
                  <a:cubicBezTo>
                    <a:pt x="2016686" y="48321"/>
                    <a:pt x="2027283" y="73904"/>
                    <a:pt x="2027283" y="100579"/>
                  </a:cubicBezTo>
                  <a:lnTo>
                    <a:pt x="2027283" y="193357"/>
                  </a:lnTo>
                  <a:cubicBezTo>
                    <a:pt x="2027283" y="248906"/>
                    <a:pt x="1982252" y="293937"/>
                    <a:pt x="1926704" y="293937"/>
                  </a:cubicBezTo>
                  <a:lnTo>
                    <a:pt x="100579" y="293937"/>
                  </a:lnTo>
                  <a:cubicBezTo>
                    <a:pt x="73904" y="293937"/>
                    <a:pt x="48321" y="283340"/>
                    <a:pt x="29459" y="264478"/>
                  </a:cubicBezTo>
                  <a:cubicBezTo>
                    <a:pt x="10597" y="245615"/>
                    <a:pt x="0" y="220033"/>
                    <a:pt x="0" y="193357"/>
                  </a:cubicBezTo>
                  <a:lnTo>
                    <a:pt x="0" y="100579"/>
                  </a:lnTo>
                  <a:cubicBezTo>
                    <a:pt x="0" y="73904"/>
                    <a:pt x="10597" y="48321"/>
                    <a:pt x="29459" y="29459"/>
                  </a:cubicBezTo>
                  <a:cubicBezTo>
                    <a:pt x="48321" y="10597"/>
                    <a:pt x="73904" y="0"/>
                    <a:pt x="100579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23825"/>
              <a:ext cx="2027283" cy="417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Focuses on Hyderabad's three major urban lakes.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68244" y="4704962"/>
            <a:ext cx="7697339" cy="1116040"/>
            <a:chOff x="0" y="0"/>
            <a:chExt cx="2027283" cy="2939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7283" cy="293937"/>
            </a:xfrm>
            <a:custGeom>
              <a:avLst/>
              <a:gdLst/>
              <a:ahLst/>
              <a:cxnLst/>
              <a:rect l="l" t="t" r="r" b="b"/>
              <a:pathLst>
                <a:path w="2027283" h="293937">
                  <a:moveTo>
                    <a:pt x="100579" y="0"/>
                  </a:moveTo>
                  <a:lnTo>
                    <a:pt x="1926704" y="0"/>
                  </a:lnTo>
                  <a:cubicBezTo>
                    <a:pt x="1953379" y="0"/>
                    <a:pt x="1978961" y="10597"/>
                    <a:pt x="1997824" y="29459"/>
                  </a:cubicBezTo>
                  <a:cubicBezTo>
                    <a:pt x="2016686" y="48321"/>
                    <a:pt x="2027283" y="73904"/>
                    <a:pt x="2027283" y="100579"/>
                  </a:cubicBezTo>
                  <a:lnTo>
                    <a:pt x="2027283" y="193357"/>
                  </a:lnTo>
                  <a:cubicBezTo>
                    <a:pt x="2027283" y="248906"/>
                    <a:pt x="1982252" y="293937"/>
                    <a:pt x="1926704" y="293937"/>
                  </a:cubicBezTo>
                  <a:lnTo>
                    <a:pt x="100579" y="293937"/>
                  </a:lnTo>
                  <a:cubicBezTo>
                    <a:pt x="73904" y="293937"/>
                    <a:pt x="48321" y="283340"/>
                    <a:pt x="29459" y="264478"/>
                  </a:cubicBezTo>
                  <a:cubicBezTo>
                    <a:pt x="10597" y="245615"/>
                    <a:pt x="0" y="220033"/>
                    <a:pt x="0" y="193357"/>
                  </a:cubicBezTo>
                  <a:lnTo>
                    <a:pt x="0" y="100579"/>
                  </a:lnTo>
                  <a:cubicBezTo>
                    <a:pt x="0" y="73904"/>
                    <a:pt x="10597" y="48321"/>
                    <a:pt x="29459" y="29459"/>
                  </a:cubicBezTo>
                  <a:cubicBezTo>
                    <a:pt x="48321" y="10597"/>
                    <a:pt x="73904" y="0"/>
                    <a:pt x="100579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2027283" cy="417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Integrates Sentinel-2 imagery with U-Net-based segmentation.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302471" y="1804573"/>
            <a:ext cx="4428886" cy="95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0"/>
              </a:lnSpc>
            </a:pPr>
            <a:r>
              <a:rPr lang="en-US" sz="60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NOVELTY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6049602"/>
            <a:ext cx="7697339" cy="1116040"/>
            <a:chOff x="0" y="0"/>
            <a:chExt cx="2027283" cy="2939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27283" cy="293937"/>
            </a:xfrm>
            <a:custGeom>
              <a:avLst/>
              <a:gdLst/>
              <a:ahLst/>
              <a:cxnLst/>
              <a:rect l="l" t="t" r="r" b="b"/>
              <a:pathLst>
                <a:path w="2027283" h="293937">
                  <a:moveTo>
                    <a:pt x="100579" y="0"/>
                  </a:moveTo>
                  <a:lnTo>
                    <a:pt x="1926704" y="0"/>
                  </a:lnTo>
                  <a:cubicBezTo>
                    <a:pt x="1953379" y="0"/>
                    <a:pt x="1978961" y="10597"/>
                    <a:pt x="1997824" y="29459"/>
                  </a:cubicBezTo>
                  <a:cubicBezTo>
                    <a:pt x="2016686" y="48321"/>
                    <a:pt x="2027283" y="73904"/>
                    <a:pt x="2027283" y="100579"/>
                  </a:cubicBezTo>
                  <a:lnTo>
                    <a:pt x="2027283" y="193357"/>
                  </a:lnTo>
                  <a:cubicBezTo>
                    <a:pt x="2027283" y="248906"/>
                    <a:pt x="1982252" y="293937"/>
                    <a:pt x="1926704" y="293937"/>
                  </a:cubicBezTo>
                  <a:lnTo>
                    <a:pt x="100579" y="293937"/>
                  </a:lnTo>
                  <a:cubicBezTo>
                    <a:pt x="73904" y="293937"/>
                    <a:pt x="48321" y="283340"/>
                    <a:pt x="29459" y="264478"/>
                  </a:cubicBezTo>
                  <a:cubicBezTo>
                    <a:pt x="10597" y="245615"/>
                    <a:pt x="0" y="220033"/>
                    <a:pt x="0" y="193357"/>
                  </a:cubicBezTo>
                  <a:lnTo>
                    <a:pt x="0" y="100579"/>
                  </a:lnTo>
                  <a:cubicBezTo>
                    <a:pt x="0" y="73904"/>
                    <a:pt x="10597" y="48321"/>
                    <a:pt x="29459" y="29459"/>
                  </a:cubicBezTo>
                  <a:cubicBezTo>
                    <a:pt x="48321" y="10597"/>
                    <a:pt x="73904" y="0"/>
                    <a:pt x="100579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23825"/>
              <a:ext cx="2027283" cy="417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Apply U-Net-based semantic segmentation to identify water bodies.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7394243"/>
            <a:ext cx="7697339" cy="1116040"/>
            <a:chOff x="0" y="0"/>
            <a:chExt cx="2027283" cy="29393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27283" cy="293937"/>
            </a:xfrm>
            <a:custGeom>
              <a:avLst/>
              <a:gdLst/>
              <a:ahLst/>
              <a:cxnLst/>
              <a:rect l="l" t="t" r="r" b="b"/>
              <a:pathLst>
                <a:path w="2027283" h="293937">
                  <a:moveTo>
                    <a:pt x="100579" y="0"/>
                  </a:moveTo>
                  <a:lnTo>
                    <a:pt x="1926704" y="0"/>
                  </a:lnTo>
                  <a:cubicBezTo>
                    <a:pt x="1953379" y="0"/>
                    <a:pt x="1978961" y="10597"/>
                    <a:pt x="1997824" y="29459"/>
                  </a:cubicBezTo>
                  <a:cubicBezTo>
                    <a:pt x="2016686" y="48321"/>
                    <a:pt x="2027283" y="73904"/>
                    <a:pt x="2027283" y="100579"/>
                  </a:cubicBezTo>
                  <a:lnTo>
                    <a:pt x="2027283" y="193357"/>
                  </a:lnTo>
                  <a:cubicBezTo>
                    <a:pt x="2027283" y="248906"/>
                    <a:pt x="1982252" y="293937"/>
                    <a:pt x="1926704" y="293937"/>
                  </a:cubicBezTo>
                  <a:lnTo>
                    <a:pt x="100579" y="293937"/>
                  </a:lnTo>
                  <a:cubicBezTo>
                    <a:pt x="73904" y="293937"/>
                    <a:pt x="48321" y="283340"/>
                    <a:pt x="29459" y="264478"/>
                  </a:cubicBezTo>
                  <a:cubicBezTo>
                    <a:pt x="10597" y="245615"/>
                    <a:pt x="0" y="220033"/>
                    <a:pt x="0" y="193357"/>
                  </a:cubicBezTo>
                  <a:lnTo>
                    <a:pt x="0" y="100579"/>
                  </a:lnTo>
                  <a:cubicBezTo>
                    <a:pt x="0" y="73904"/>
                    <a:pt x="10597" y="48321"/>
                    <a:pt x="29459" y="29459"/>
                  </a:cubicBezTo>
                  <a:cubicBezTo>
                    <a:pt x="48321" y="10597"/>
                    <a:pt x="73904" y="0"/>
                    <a:pt x="100579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123825"/>
              <a:ext cx="2027283" cy="417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Estimate year-wise lake surface area and analyze temporal changes.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68244" y="7394243"/>
            <a:ext cx="7697339" cy="1116040"/>
            <a:chOff x="0" y="0"/>
            <a:chExt cx="2027283" cy="2939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27283" cy="293937"/>
            </a:xfrm>
            <a:custGeom>
              <a:avLst/>
              <a:gdLst/>
              <a:ahLst/>
              <a:cxnLst/>
              <a:rect l="l" t="t" r="r" b="b"/>
              <a:pathLst>
                <a:path w="2027283" h="293937">
                  <a:moveTo>
                    <a:pt x="100579" y="0"/>
                  </a:moveTo>
                  <a:lnTo>
                    <a:pt x="1926704" y="0"/>
                  </a:lnTo>
                  <a:cubicBezTo>
                    <a:pt x="1953379" y="0"/>
                    <a:pt x="1978961" y="10597"/>
                    <a:pt x="1997824" y="29459"/>
                  </a:cubicBezTo>
                  <a:cubicBezTo>
                    <a:pt x="2016686" y="48321"/>
                    <a:pt x="2027283" y="73904"/>
                    <a:pt x="2027283" y="100579"/>
                  </a:cubicBezTo>
                  <a:lnTo>
                    <a:pt x="2027283" y="193357"/>
                  </a:lnTo>
                  <a:cubicBezTo>
                    <a:pt x="2027283" y="248906"/>
                    <a:pt x="1982252" y="293937"/>
                    <a:pt x="1926704" y="293937"/>
                  </a:cubicBezTo>
                  <a:lnTo>
                    <a:pt x="100579" y="293937"/>
                  </a:lnTo>
                  <a:cubicBezTo>
                    <a:pt x="73904" y="293937"/>
                    <a:pt x="48321" y="283340"/>
                    <a:pt x="29459" y="264478"/>
                  </a:cubicBezTo>
                  <a:cubicBezTo>
                    <a:pt x="10597" y="245615"/>
                    <a:pt x="0" y="220033"/>
                    <a:pt x="0" y="193357"/>
                  </a:cubicBezTo>
                  <a:lnTo>
                    <a:pt x="0" y="100579"/>
                  </a:lnTo>
                  <a:cubicBezTo>
                    <a:pt x="0" y="73904"/>
                    <a:pt x="10597" y="48321"/>
                    <a:pt x="29459" y="29459"/>
                  </a:cubicBezTo>
                  <a:cubicBezTo>
                    <a:pt x="48321" y="10597"/>
                    <a:pt x="73904" y="0"/>
                    <a:pt x="100579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123825"/>
              <a:ext cx="2027283" cy="417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Provides year-wise quantitative analysis of lake surface area changes.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68244" y="6049602"/>
            <a:ext cx="7697339" cy="1116040"/>
            <a:chOff x="0" y="0"/>
            <a:chExt cx="2027283" cy="2939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27283" cy="293937"/>
            </a:xfrm>
            <a:custGeom>
              <a:avLst/>
              <a:gdLst/>
              <a:ahLst/>
              <a:cxnLst/>
              <a:rect l="l" t="t" r="r" b="b"/>
              <a:pathLst>
                <a:path w="2027283" h="293937">
                  <a:moveTo>
                    <a:pt x="100579" y="0"/>
                  </a:moveTo>
                  <a:lnTo>
                    <a:pt x="1926704" y="0"/>
                  </a:lnTo>
                  <a:cubicBezTo>
                    <a:pt x="1953379" y="0"/>
                    <a:pt x="1978961" y="10597"/>
                    <a:pt x="1997824" y="29459"/>
                  </a:cubicBezTo>
                  <a:cubicBezTo>
                    <a:pt x="2016686" y="48321"/>
                    <a:pt x="2027283" y="73904"/>
                    <a:pt x="2027283" y="100579"/>
                  </a:cubicBezTo>
                  <a:lnTo>
                    <a:pt x="2027283" y="193357"/>
                  </a:lnTo>
                  <a:cubicBezTo>
                    <a:pt x="2027283" y="248906"/>
                    <a:pt x="1982252" y="293937"/>
                    <a:pt x="1926704" y="293937"/>
                  </a:cubicBezTo>
                  <a:lnTo>
                    <a:pt x="100579" y="293937"/>
                  </a:lnTo>
                  <a:cubicBezTo>
                    <a:pt x="73904" y="293937"/>
                    <a:pt x="48321" y="283340"/>
                    <a:pt x="29459" y="264478"/>
                  </a:cubicBezTo>
                  <a:cubicBezTo>
                    <a:pt x="10597" y="245615"/>
                    <a:pt x="0" y="220033"/>
                    <a:pt x="0" y="193357"/>
                  </a:cubicBezTo>
                  <a:lnTo>
                    <a:pt x="0" y="100579"/>
                  </a:lnTo>
                  <a:cubicBezTo>
                    <a:pt x="0" y="73904"/>
                    <a:pt x="10597" y="48321"/>
                    <a:pt x="29459" y="29459"/>
                  </a:cubicBezTo>
                  <a:cubicBezTo>
                    <a:pt x="48321" y="10597"/>
                    <a:pt x="73904" y="0"/>
                    <a:pt x="100579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123825"/>
              <a:ext cx="2027283" cy="417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Enables automated monitoring of water bodies.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453457" y="1199926"/>
            <a:ext cx="1055299" cy="1049543"/>
          </a:xfrm>
          <a:custGeom>
            <a:avLst/>
            <a:gdLst/>
            <a:ahLst/>
            <a:cxnLst/>
            <a:rect l="l" t="t" r="r" b="b"/>
            <a:pathLst>
              <a:path w="1055299" h="1049543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4127893" y="-1982291"/>
            <a:ext cx="2298231" cy="3964582"/>
          </a:xfrm>
          <a:custGeom>
            <a:avLst/>
            <a:gdLst/>
            <a:ahLst/>
            <a:cxnLst/>
            <a:rect l="l" t="t" r="r" b="b"/>
            <a:pathLst>
              <a:path w="2298231" h="3964582">
                <a:moveTo>
                  <a:pt x="0" y="0"/>
                </a:moveTo>
                <a:lnTo>
                  <a:pt x="2298232" y="0"/>
                </a:lnTo>
                <a:lnTo>
                  <a:pt x="2298232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487508" y="3571785"/>
            <a:ext cx="9771792" cy="1269614"/>
            <a:chOff x="0" y="0"/>
            <a:chExt cx="2573641" cy="3343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3641" cy="334384"/>
            </a:xfrm>
            <a:custGeom>
              <a:avLst/>
              <a:gdLst/>
              <a:ahLst/>
              <a:cxnLst/>
              <a:rect l="l" t="t" r="r" b="b"/>
              <a:pathLst>
                <a:path w="2573641" h="334384">
                  <a:moveTo>
                    <a:pt x="79227" y="0"/>
                  </a:moveTo>
                  <a:lnTo>
                    <a:pt x="2494413" y="0"/>
                  </a:lnTo>
                  <a:cubicBezTo>
                    <a:pt x="2515426" y="0"/>
                    <a:pt x="2535577" y="8347"/>
                    <a:pt x="2550435" y="23205"/>
                  </a:cubicBezTo>
                  <a:cubicBezTo>
                    <a:pt x="2565293" y="38063"/>
                    <a:pt x="2573641" y="58215"/>
                    <a:pt x="2573641" y="79227"/>
                  </a:cubicBezTo>
                  <a:lnTo>
                    <a:pt x="2573641" y="255157"/>
                  </a:lnTo>
                  <a:cubicBezTo>
                    <a:pt x="2573641" y="276169"/>
                    <a:pt x="2565293" y="296321"/>
                    <a:pt x="2550435" y="311179"/>
                  </a:cubicBezTo>
                  <a:cubicBezTo>
                    <a:pt x="2535577" y="326037"/>
                    <a:pt x="2515426" y="334384"/>
                    <a:pt x="2494413" y="334384"/>
                  </a:cubicBezTo>
                  <a:lnTo>
                    <a:pt x="79227" y="334384"/>
                  </a:lnTo>
                  <a:cubicBezTo>
                    <a:pt x="35471" y="334384"/>
                    <a:pt x="0" y="298913"/>
                    <a:pt x="0" y="255157"/>
                  </a:cubicBezTo>
                  <a:lnTo>
                    <a:pt x="0" y="79227"/>
                  </a:lnTo>
                  <a:cubicBezTo>
                    <a:pt x="0" y="58215"/>
                    <a:pt x="8347" y="38063"/>
                    <a:pt x="23205" y="23205"/>
                  </a:cubicBezTo>
                  <a:cubicBezTo>
                    <a:pt x="38063" y="8347"/>
                    <a:pt x="58215" y="0"/>
                    <a:pt x="79227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573641" cy="448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Presented the need for automated monitoring of Hyderabad's urban lakes.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87508" y="8126929"/>
            <a:ext cx="9771792" cy="1269614"/>
            <a:chOff x="0" y="0"/>
            <a:chExt cx="2573641" cy="3343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73641" cy="334384"/>
            </a:xfrm>
            <a:custGeom>
              <a:avLst/>
              <a:gdLst/>
              <a:ahLst/>
              <a:cxnLst/>
              <a:rect l="l" t="t" r="r" b="b"/>
              <a:pathLst>
                <a:path w="2573641" h="334384">
                  <a:moveTo>
                    <a:pt x="79227" y="0"/>
                  </a:moveTo>
                  <a:lnTo>
                    <a:pt x="2494413" y="0"/>
                  </a:lnTo>
                  <a:cubicBezTo>
                    <a:pt x="2515426" y="0"/>
                    <a:pt x="2535577" y="8347"/>
                    <a:pt x="2550435" y="23205"/>
                  </a:cubicBezTo>
                  <a:cubicBezTo>
                    <a:pt x="2565293" y="38063"/>
                    <a:pt x="2573641" y="58215"/>
                    <a:pt x="2573641" y="79227"/>
                  </a:cubicBezTo>
                  <a:lnTo>
                    <a:pt x="2573641" y="255157"/>
                  </a:lnTo>
                  <a:cubicBezTo>
                    <a:pt x="2573641" y="276169"/>
                    <a:pt x="2565293" y="296321"/>
                    <a:pt x="2550435" y="311179"/>
                  </a:cubicBezTo>
                  <a:cubicBezTo>
                    <a:pt x="2535577" y="326037"/>
                    <a:pt x="2515426" y="334384"/>
                    <a:pt x="2494413" y="334384"/>
                  </a:cubicBezTo>
                  <a:lnTo>
                    <a:pt x="79227" y="334384"/>
                  </a:lnTo>
                  <a:cubicBezTo>
                    <a:pt x="35471" y="334384"/>
                    <a:pt x="0" y="298913"/>
                    <a:pt x="0" y="255157"/>
                  </a:cubicBezTo>
                  <a:lnTo>
                    <a:pt x="0" y="79227"/>
                  </a:lnTo>
                  <a:cubicBezTo>
                    <a:pt x="0" y="58215"/>
                    <a:pt x="8347" y="38063"/>
                    <a:pt x="23205" y="23205"/>
                  </a:cubicBezTo>
                  <a:cubicBezTo>
                    <a:pt x="38063" y="8347"/>
                    <a:pt x="58215" y="0"/>
                    <a:pt x="79227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2573641" cy="458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Future work includes model development, surface area estimation, and temporal analysis.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87508" y="6609665"/>
            <a:ext cx="9771792" cy="1269614"/>
            <a:chOff x="0" y="0"/>
            <a:chExt cx="2573641" cy="3343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73641" cy="334384"/>
            </a:xfrm>
            <a:custGeom>
              <a:avLst/>
              <a:gdLst/>
              <a:ahLst/>
              <a:cxnLst/>
              <a:rect l="l" t="t" r="r" b="b"/>
              <a:pathLst>
                <a:path w="2573641" h="334384">
                  <a:moveTo>
                    <a:pt x="79227" y="0"/>
                  </a:moveTo>
                  <a:lnTo>
                    <a:pt x="2494413" y="0"/>
                  </a:lnTo>
                  <a:cubicBezTo>
                    <a:pt x="2515426" y="0"/>
                    <a:pt x="2535577" y="8347"/>
                    <a:pt x="2550435" y="23205"/>
                  </a:cubicBezTo>
                  <a:cubicBezTo>
                    <a:pt x="2565293" y="38063"/>
                    <a:pt x="2573641" y="58215"/>
                    <a:pt x="2573641" y="79227"/>
                  </a:cubicBezTo>
                  <a:lnTo>
                    <a:pt x="2573641" y="255157"/>
                  </a:lnTo>
                  <a:cubicBezTo>
                    <a:pt x="2573641" y="276169"/>
                    <a:pt x="2565293" y="296321"/>
                    <a:pt x="2550435" y="311179"/>
                  </a:cubicBezTo>
                  <a:cubicBezTo>
                    <a:pt x="2535577" y="326037"/>
                    <a:pt x="2515426" y="334384"/>
                    <a:pt x="2494413" y="334384"/>
                  </a:cubicBezTo>
                  <a:lnTo>
                    <a:pt x="79227" y="334384"/>
                  </a:lnTo>
                  <a:cubicBezTo>
                    <a:pt x="35471" y="334384"/>
                    <a:pt x="0" y="298913"/>
                    <a:pt x="0" y="255157"/>
                  </a:cubicBezTo>
                  <a:lnTo>
                    <a:pt x="0" y="79227"/>
                  </a:lnTo>
                  <a:cubicBezTo>
                    <a:pt x="0" y="58215"/>
                    <a:pt x="8347" y="38063"/>
                    <a:pt x="23205" y="23205"/>
                  </a:cubicBezTo>
                  <a:cubicBezTo>
                    <a:pt x="38063" y="8347"/>
                    <a:pt x="58215" y="0"/>
                    <a:pt x="79227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23825"/>
              <a:ext cx="2573641" cy="458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Proposed a U-Net-based deep learning framework for water body segmentation.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87508" y="5092401"/>
            <a:ext cx="9771792" cy="1269614"/>
            <a:chOff x="0" y="0"/>
            <a:chExt cx="2573641" cy="3343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73641" cy="334384"/>
            </a:xfrm>
            <a:custGeom>
              <a:avLst/>
              <a:gdLst/>
              <a:ahLst/>
              <a:cxnLst/>
              <a:rect l="l" t="t" r="r" b="b"/>
              <a:pathLst>
                <a:path w="2573641" h="334384">
                  <a:moveTo>
                    <a:pt x="79227" y="0"/>
                  </a:moveTo>
                  <a:lnTo>
                    <a:pt x="2494413" y="0"/>
                  </a:lnTo>
                  <a:cubicBezTo>
                    <a:pt x="2515426" y="0"/>
                    <a:pt x="2535577" y="8347"/>
                    <a:pt x="2550435" y="23205"/>
                  </a:cubicBezTo>
                  <a:cubicBezTo>
                    <a:pt x="2565293" y="38063"/>
                    <a:pt x="2573641" y="58215"/>
                    <a:pt x="2573641" y="79227"/>
                  </a:cubicBezTo>
                  <a:lnTo>
                    <a:pt x="2573641" y="255157"/>
                  </a:lnTo>
                  <a:cubicBezTo>
                    <a:pt x="2573641" y="276169"/>
                    <a:pt x="2565293" y="296321"/>
                    <a:pt x="2550435" y="311179"/>
                  </a:cubicBezTo>
                  <a:cubicBezTo>
                    <a:pt x="2535577" y="326037"/>
                    <a:pt x="2515426" y="334384"/>
                    <a:pt x="2494413" y="334384"/>
                  </a:cubicBezTo>
                  <a:lnTo>
                    <a:pt x="79227" y="334384"/>
                  </a:lnTo>
                  <a:cubicBezTo>
                    <a:pt x="35471" y="334384"/>
                    <a:pt x="0" y="298913"/>
                    <a:pt x="0" y="255157"/>
                  </a:cubicBezTo>
                  <a:lnTo>
                    <a:pt x="0" y="79227"/>
                  </a:lnTo>
                  <a:cubicBezTo>
                    <a:pt x="0" y="58215"/>
                    <a:pt x="8347" y="38063"/>
                    <a:pt x="23205" y="23205"/>
                  </a:cubicBezTo>
                  <a:cubicBezTo>
                    <a:pt x="38063" y="8347"/>
                    <a:pt x="58215" y="0"/>
                    <a:pt x="79227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2573641" cy="458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Selected Sentinel-2 imagery and Hyderabad's three major lakes for the study.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2783071"/>
            <a:ext cx="5904813" cy="6243942"/>
          </a:xfrm>
          <a:custGeom>
            <a:avLst/>
            <a:gdLst/>
            <a:ahLst/>
            <a:cxnLst/>
            <a:rect l="l" t="t" r="r" b="b"/>
            <a:pathLst>
              <a:path w="5904813" h="6243942">
                <a:moveTo>
                  <a:pt x="0" y="0"/>
                </a:moveTo>
                <a:lnTo>
                  <a:pt x="5904813" y="0"/>
                </a:lnTo>
                <a:lnTo>
                  <a:pt x="5904813" y="6243942"/>
                </a:lnTo>
                <a:lnTo>
                  <a:pt x="0" y="6243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4" r="-7933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471126" y="1677072"/>
            <a:ext cx="7804556" cy="132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150"/>
              </a:lnSpc>
            </a:pPr>
            <a:r>
              <a:rPr lang="en-US" sz="8402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CONCLUSION 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6829" y="9433912"/>
            <a:ext cx="6528554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Aerial view of Hussain Sagar Lake, Hyderabad.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9578" y="4914958"/>
            <a:ext cx="1558087" cy="457083"/>
          </a:xfrm>
          <a:custGeom>
            <a:avLst/>
            <a:gdLst/>
            <a:ahLst/>
            <a:cxnLst/>
            <a:rect l="l" t="t" r="r" b="b"/>
            <a:pathLst>
              <a:path w="1558087" h="457083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120" y="3550720"/>
            <a:ext cx="3203031" cy="3185560"/>
          </a:xfrm>
          <a:custGeom>
            <a:avLst/>
            <a:gdLst/>
            <a:ahLst/>
            <a:cxnLst/>
            <a:rect l="l" t="t" r="r" b="b"/>
            <a:pathLst>
              <a:path w="3203031" h="3185560">
                <a:moveTo>
                  <a:pt x="0" y="0"/>
                </a:moveTo>
                <a:lnTo>
                  <a:pt x="3203030" y="0"/>
                </a:lnTo>
                <a:lnTo>
                  <a:pt x="3203030" y="3185560"/>
                </a:lnTo>
                <a:lnTo>
                  <a:pt x="0" y="3185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1765392" y="-1687841"/>
            <a:ext cx="2385311" cy="4114800"/>
          </a:xfrm>
          <a:custGeom>
            <a:avLst/>
            <a:gdLst/>
            <a:ahLst/>
            <a:cxnLst/>
            <a:rect l="l" t="t" r="r" b="b"/>
            <a:pathLst>
              <a:path w="2385311" h="4114800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33082" y="4044893"/>
            <a:ext cx="10702538" cy="211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80"/>
              </a:lnSpc>
            </a:pPr>
            <a:r>
              <a:rPr lang="en-US" sz="13382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59622" y="8778665"/>
            <a:ext cx="6829811" cy="844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Department of Computer Science and Engineering</a:t>
            </a:r>
          </a:p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Vellore Institute of Technology, Vellore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Custom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Agrandir</vt:lpstr>
      <vt:lpstr>Calibri</vt:lpstr>
      <vt:lpstr>Arial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Multi-Temporal Water Body Analysis of Hyderabad’s Urban Lakes Using Deep Learning</dc:title>
  <cp:lastModifiedBy>Ritanshu Kumar</cp:lastModifiedBy>
  <cp:revision>2</cp:revision>
  <dcterms:created xsi:type="dcterms:W3CDTF">2006-08-16T00:00:00Z</dcterms:created>
  <dcterms:modified xsi:type="dcterms:W3CDTF">2026-07-29T20:22:07Z</dcterms:modified>
  <dc:identifier>DAHQyumtCjo</dc:identifier>
</cp:coreProperties>
</file>